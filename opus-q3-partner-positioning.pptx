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Positioning: Opus helps a company fill a real seat with a full-time professional from Latin America.</a:t>
            </a:r>
          </a:p>
          <a:p>
            <a:r>
              <a:t>• Ownership: The person works inside the client's team, and the client leads the work.</a:t>
            </a:r>
          </a:p>
          <a:p>
            <a:r>
              <a:t>• Model: This is staffing, not a managed service or outsourced pod.</a:t>
            </a:r>
          </a:p>
          <a:p>
            <a:r>
              <a:t>• Brands: Opus is the client-facing brand, and Puente Talent is the candidate-facing recruiting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Gap: Many companies have outgrown task support but do not want to outsource a function.</a:t>
            </a:r>
          </a:p>
          <a:p>
            <a:r>
              <a:t>• VA line: If the work is mostly instructions and repeatable tasks, Opus is not the best fit.</a:t>
            </a:r>
          </a:p>
          <a:p>
            <a:r>
              <a:t>• Pod line: If the buyer wants a vendor to own the output, Opus is not the model.</a:t>
            </a:r>
          </a:p>
          <a:p>
            <a:r>
              <a:t>• Opus line: Opus is for a manager who wants a capable person on the team for the long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Trigger: Listen for 'we need someone to own this,' not 'we need a few tasks covered.'</a:t>
            </a:r>
          </a:p>
          <a:p>
            <a:r>
              <a:t>• Company: The company is building its own team, not shopping for a vendor.</a:t>
            </a:r>
          </a:p>
          <a:p>
            <a:r>
              <a:t>• Roles: Good examples are operators, finance talent, engineers, marketers, and customer leaders.</a:t>
            </a:r>
          </a:p>
          <a:p>
            <a:r>
              <a:t>• Manager: The strongest fit has a manager who knows the result the new hire should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Search: Opus recruits and vets for the role instead of handing over a resume pile.</a:t>
            </a:r>
          </a:p>
          <a:p>
            <a:r>
              <a:t>• Choice: The client interviews and chooses the person who joins the team.</a:t>
            </a:r>
          </a:p>
          <a:p>
            <a:r>
              <a:t>• Leadership: Priorities, feedback, and performance stay with the client.</a:t>
            </a:r>
          </a:p>
          <a:p>
            <a:r>
              <a:t>• Support: Opus can keep payroll and local employment requirements off the client's 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Ask: One qualified introduction is the right next step.</a:t>
            </a:r>
          </a:p>
          <a:p>
            <a:r>
              <a:t>• Signal: The company should have a defined role and a manager ready to lead it.</a:t>
            </a:r>
          </a:p>
          <a:p>
            <a:r>
              <a:t>• Intro: A simple email with the role, company, and hiring manager is enough.</a:t>
            </a:r>
          </a:p>
          <a:p>
            <a:r>
              <a:t>• Next step: Opus can take the first fit conversation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-1325880"/>
            <a:ext cx="3794760" cy="3794760"/>
          </a:xfrm>
          <a:prstGeom prst="ellipse">
            <a:avLst/>
          </a:prstGeom>
          <a:noFill/>
          <a:ln w="9525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F45B"/>
                </a:solidFill>
                <a:latin typeface="Arial"/>
              </a:rPr>
              <a:t>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4F0E6"/>
                </a:solidFill>
                <a:latin typeface="Georgia"/>
              </a:rP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265176"/>
            <a:ext cx="137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7F45B"/>
                </a:solidFill>
                <a:latin typeface="Georgia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46920" y="448056"/>
            <a:ext cx="365760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76688" y="3474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8D5CB"/>
                </a:solidFill>
                <a:latin typeface="Arial"/>
              </a:rPr>
              <a:t>PARTNER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8D5CB"/>
                </a:solidFill>
                <a:latin typeface="Arial"/>
              </a:rPr>
              <a:t>Q3 PARTNER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7F45B"/>
                </a:solidFill>
                <a:latin typeface="Arial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62270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7F45B"/>
                </a:solidFill>
                <a:latin typeface="Arial"/>
              </a:rPr>
              <a:t>1 /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830568"/>
            <a:ext cx="2438339" cy="0"/>
          </a:xfrm>
          <a:prstGeom prst="line">
            <a:avLst/>
          </a:prstGeom>
          <a:ln w="2794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29844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4F0E6"/>
                </a:solidFill>
                <a:latin typeface="Georgia"/>
              </a:rPr>
              <a:t>Opus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65376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4F0E6"/>
                </a:solidFill>
                <a:latin typeface="Georgia"/>
              </a:rPr>
              <a:t>full-time Latin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32304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4F0E6"/>
                </a:solidFill>
                <a:latin typeface="Georgia"/>
              </a:rPr>
              <a:t>American operators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0" i="1">
                <a:solidFill>
                  <a:srgbClr val="C7F45B"/>
                </a:solidFill>
                <a:latin typeface="Georgia"/>
              </a:rPr>
              <a:t>on U.S. teams.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42631" y="1783080"/>
            <a:ext cx="4297681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42631" y="1984248"/>
            <a:ext cx="109728" cy="109728"/>
          </a:xfrm>
          <a:prstGeom prst="ellipse">
            <a:avLst/>
          </a:prstGeom>
          <a:solidFill>
            <a:srgbClr val="C7F45B"/>
          </a:solidFill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1892807"/>
            <a:ext cx="398678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They join the team. The client manages the work.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2631" y="2551176"/>
            <a:ext cx="4297681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42631" y="2752344"/>
            <a:ext cx="109728" cy="109728"/>
          </a:xfrm>
          <a:prstGeom prst="ellipse">
            <a:avLst/>
          </a:prstGeom>
          <a:noFill/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2660904"/>
            <a:ext cx="398678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Long-term roles, not freelance tasks or vendor pods.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42631" y="3319272"/>
            <a:ext cx="4297681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342631" y="3520440"/>
            <a:ext cx="109728" cy="109728"/>
          </a:xfrm>
          <a:prstGeom prst="ellipse">
            <a:avLst/>
          </a:prstGeom>
          <a:noFill/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3429000"/>
            <a:ext cx="398678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Opus can handle payroll and cross-border compliance.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42631" y="4087368"/>
            <a:ext cx="4297681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-1325880"/>
            <a:ext cx="3794760" cy="3794760"/>
          </a:xfrm>
          <a:prstGeom prst="ellipse">
            <a:avLst/>
          </a:prstGeom>
          <a:noFill/>
          <a:ln w="9525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F45B"/>
                </a:solidFill>
                <a:latin typeface="Arial"/>
              </a:rPr>
              <a:t>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4F0E6"/>
                </a:solidFill>
                <a:latin typeface="Georgia"/>
              </a:rP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265176"/>
            <a:ext cx="137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7F45B"/>
                </a:solidFill>
                <a:latin typeface="Georgia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46920" y="448056"/>
            <a:ext cx="365760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76688" y="3474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8D5CB"/>
                </a:solidFill>
                <a:latin typeface="Arial"/>
              </a:rPr>
              <a:t>CATEGORY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8D5CB"/>
                </a:solidFill>
                <a:latin typeface="Arial"/>
              </a:rPr>
              <a:t>Q3 PARTNER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7F45B"/>
                </a:solidFill>
                <a:latin typeface="Arial"/>
              </a:rPr>
              <a:t>RECOGNIZE THE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62270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7F45B"/>
                </a:solidFill>
                <a:latin typeface="Arial"/>
              </a:rPr>
              <a:t>2 /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830568"/>
            <a:ext cx="4876678" cy="0"/>
          </a:xfrm>
          <a:prstGeom prst="line">
            <a:avLst/>
          </a:prstGeom>
          <a:ln w="2794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960120"/>
            <a:ext cx="978408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4F0E6"/>
                </a:solidFill>
                <a:latin typeface="Georgia"/>
              </a:rPr>
              <a:t>There is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490472"/>
            <a:ext cx="978408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C7F45B"/>
                </a:solidFill>
                <a:latin typeface="Georgia"/>
              </a:rPr>
              <a:t>missing middle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20824"/>
            <a:ext cx="978408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4F0E6"/>
                </a:solidFill>
                <a:latin typeface="Georgia"/>
              </a:rPr>
              <a:t>in offshore hiring.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4206240"/>
            <a:ext cx="113659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1480" y="5532120"/>
            <a:ext cx="113659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208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DEFINED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4F0E6"/>
                </a:solidFill>
                <a:latin typeface="Arial"/>
              </a:rPr>
              <a:t>VAs handle defined tasks.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0144" y="4206240"/>
            <a:ext cx="0" cy="132588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09872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MANAGED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9872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4F0E6"/>
                </a:solidFill>
                <a:latin typeface="Arial"/>
              </a:rPr>
              <a:t>Pods and outsourcing firms manage delivery.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88808" y="4206240"/>
            <a:ext cx="0" cy="132588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98535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ROLE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8535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7F45B"/>
                </a:solidFill>
                <a:latin typeface="Arial"/>
              </a:rPr>
              <a:t>Opus places professionals who own a role inside the business.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88808" y="4206240"/>
            <a:ext cx="3788664" cy="0"/>
          </a:xfrm>
          <a:prstGeom prst="line">
            <a:avLst/>
          </a:prstGeom>
          <a:ln w="2159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-1325880"/>
            <a:ext cx="3794760" cy="3794760"/>
          </a:xfrm>
          <a:prstGeom prst="ellipse">
            <a:avLst/>
          </a:prstGeom>
          <a:noFill/>
          <a:ln w="9525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F45B"/>
                </a:solidFill>
                <a:latin typeface="Arial"/>
              </a:rPr>
              <a:t>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4F0E6"/>
                </a:solidFill>
                <a:latin typeface="Georgia"/>
              </a:rP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265176"/>
            <a:ext cx="137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7F45B"/>
                </a:solidFill>
                <a:latin typeface="Georgia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46920" y="448056"/>
            <a:ext cx="365760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76688" y="3474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8D5CB"/>
                </a:solidFill>
                <a:latin typeface="Arial"/>
              </a:rPr>
              <a:t>REFERRAL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8D5CB"/>
                </a:solidFill>
                <a:latin typeface="Arial"/>
              </a:rPr>
              <a:t>Q3 PARTNER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7F45B"/>
                </a:solidFill>
                <a:latin typeface="Arial"/>
              </a:rPr>
              <a:t>IDENTIFY THE REFERRAL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62270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7F45B"/>
                </a:solidFill>
                <a:latin typeface="Arial"/>
              </a:rPr>
              <a:t>3 /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830568"/>
            <a:ext cx="7315017" cy="0"/>
          </a:xfrm>
          <a:prstGeom prst="line">
            <a:avLst/>
          </a:prstGeom>
          <a:ln w="2794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965960"/>
            <a:ext cx="5303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4F0E6"/>
                </a:solidFill>
                <a:latin typeface="Georgia"/>
              </a:rPr>
              <a:t>Refer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69464"/>
            <a:ext cx="5303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4F0E6"/>
                </a:solidFill>
                <a:latin typeface="Georgia"/>
              </a:rPr>
              <a:t>company with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72968"/>
            <a:ext cx="5303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1">
                <a:solidFill>
                  <a:srgbClr val="C7F45B"/>
                </a:solidFill>
                <a:latin typeface="Georgia"/>
              </a:rPr>
              <a:t>real seat to fill.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1828800"/>
            <a:ext cx="51937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197510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938528"/>
            <a:ext cx="464515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The role needs judgment, ownership, and strong communication.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2670048"/>
            <a:ext cx="51937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2816352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779776"/>
            <a:ext cx="464515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Best fits include operations, finance, engineering, marketing, and customer teams.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46520" y="3511296"/>
            <a:ext cx="51937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6520" y="365760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3621024"/>
            <a:ext cx="464515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A manager is ready to lead the hire directly.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" y="4352544"/>
            <a:ext cx="51937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-1325880"/>
            <a:ext cx="3794760" cy="3794760"/>
          </a:xfrm>
          <a:prstGeom prst="ellipse">
            <a:avLst/>
          </a:prstGeom>
          <a:noFill/>
          <a:ln w="9525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F45B"/>
                </a:solidFill>
                <a:latin typeface="Arial"/>
              </a:rPr>
              <a:t>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4F0E6"/>
                </a:solidFill>
                <a:latin typeface="Georgia"/>
              </a:rP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265176"/>
            <a:ext cx="137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7F45B"/>
                </a:solidFill>
                <a:latin typeface="Georgia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46920" y="448056"/>
            <a:ext cx="365760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76688" y="3474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8D5CB"/>
                </a:solidFill>
                <a:latin typeface="Arial"/>
              </a:rPr>
              <a:t>CLEAR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8D5CB"/>
                </a:solidFill>
                <a:latin typeface="Arial"/>
              </a:rPr>
              <a:t>Q3 PARTNER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7F45B"/>
                </a:solidFill>
                <a:latin typeface="Arial"/>
              </a:rPr>
              <a:t>WHO OWNS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62270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7F45B"/>
                </a:solidFill>
                <a:latin typeface="Arial"/>
              </a:rPr>
              <a:t>4 /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830568"/>
            <a:ext cx="9753356" cy="0"/>
          </a:xfrm>
          <a:prstGeom prst="line">
            <a:avLst/>
          </a:prstGeom>
          <a:ln w="2794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9601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4F0E6"/>
                </a:solidFill>
                <a:latin typeface="Georgia"/>
              </a:rPr>
              <a:t>Opus finds the person.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2704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1">
                <a:solidFill>
                  <a:srgbClr val="C7F45B"/>
                </a:solidFill>
                <a:latin typeface="Georgia"/>
              </a:rPr>
              <a:t>The client builds the team.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4206240"/>
            <a:ext cx="113659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" y="5532120"/>
            <a:ext cx="1136599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1208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4F0E6"/>
                </a:solidFill>
                <a:latin typeface="Arial"/>
              </a:rPr>
              <a:t>Opus sources and vets experienced Latin American talent.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0144" y="4206240"/>
            <a:ext cx="0" cy="132588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09872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9872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4F0E6"/>
                </a:solidFill>
                <a:latin typeface="Arial"/>
              </a:rPr>
              <a:t>The client selects, manages, and develops the hire.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88808" y="4206240"/>
            <a:ext cx="0" cy="132588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8535" y="4389120"/>
            <a:ext cx="356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7F45B"/>
                </a:solidFill>
                <a:latin typeface="Arial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8535" y="4681727"/>
            <a:ext cx="34686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4F0E6"/>
                </a:solidFill>
                <a:latin typeface="Arial"/>
              </a:rPr>
              <a:t>Opus can support payroll and local employment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-1325880"/>
            <a:ext cx="3794760" cy="3794760"/>
          </a:xfrm>
          <a:prstGeom prst="ellipse">
            <a:avLst/>
          </a:prstGeom>
          <a:noFill/>
          <a:ln w="9525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F45B"/>
                </a:solidFill>
                <a:latin typeface="Arial"/>
              </a:rPr>
              <a:t>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4F0E6"/>
                </a:solidFill>
                <a:latin typeface="Georgia"/>
              </a:rPr>
              <a:t>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265176"/>
            <a:ext cx="137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7F45B"/>
                </a:solidFill>
                <a:latin typeface="Georgia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46920" y="448056"/>
            <a:ext cx="365760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76688" y="3474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8D5CB"/>
                </a:solidFill>
                <a:latin typeface="Arial"/>
              </a:rPr>
              <a:t>THE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8D5CB"/>
                </a:solidFill>
                <a:latin typeface="Arial"/>
              </a:rPr>
              <a:t>Q3 PARTNER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7F45B"/>
                </a:solidFill>
                <a:latin typeface="Arial"/>
              </a:rPr>
              <a:t>ONE QUALIFIED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62270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7F45B"/>
                </a:solidFill>
                <a:latin typeface="Arial"/>
              </a:rPr>
              <a:t>5 /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830568"/>
            <a:ext cx="12191695" cy="0"/>
          </a:xfrm>
          <a:prstGeom prst="line">
            <a:avLst/>
          </a:prstGeom>
          <a:ln w="27940">
            <a:solidFill>
              <a:srgbClr val="C7F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874519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F4F0E6"/>
                </a:solidFill>
                <a:latin typeface="Georgia"/>
              </a:rPr>
              <a:t>Make one 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78024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F4F0E6"/>
                </a:solidFill>
                <a:latin typeface="Georgia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81528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0" i="1">
                <a:solidFill>
                  <a:srgbClr val="C7F45B"/>
                </a:solidFill>
                <a:latin typeface="Georgia"/>
              </a:rPr>
              <a:t>this week.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057400"/>
            <a:ext cx="432511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0" y="2258568"/>
            <a:ext cx="109728" cy="109728"/>
          </a:xfrm>
          <a:prstGeom prst="ellipse">
            <a:avLst/>
          </a:prstGeom>
          <a:solidFill>
            <a:srgbClr val="C7F45B"/>
          </a:solidFill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167128"/>
            <a:ext cx="4014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A company has a full-time role to fill.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2825496"/>
            <a:ext cx="432511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15200" y="3026664"/>
            <a:ext cx="109728" cy="109728"/>
          </a:xfrm>
          <a:prstGeom prst="ellipse">
            <a:avLst/>
          </a:prstGeom>
          <a:noFill/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2935224"/>
            <a:ext cx="4014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0E6"/>
                </a:solidFill>
                <a:latin typeface="Arial"/>
              </a:rPr>
              <a:t>The role needs an owner, not a task-taker.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3593591"/>
            <a:ext cx="432511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5200" y="3794759"/>
            <a:ext cx="109728" cy="109728"/>
          </a:xfrm>
          <a:prstGeom prst="ellipse">
            <a:avLst/>
          </a:prstGeom>
          <a:noFill/>
          <a:ln w="9525">
            <a:solidFill>
              <a:srgbClr val="C7F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3703320"/>
            <a:ext cx="4014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7F45B"/>
                </a:solidFill>
                <a:latin typeface="Georgia"/>
              </a:rPr>
              <a:t>Email-introduce Opus and the hiring manager.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4361688"/>
            <a:ext cx="4325112" cy="0"/>
          </a:xfrm>
          <a:prstGeom prst="line">
            <a:avLst/>
          </a:prstGeom>
          <a:ln w="9525">
            <a:solidFill>
              <a:srgbClr val="3E5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ight Arrow 24"/>
          <p:cNvSpPr/>
          <p:nvPr/>
        </p:nvSpPr>
        <p:spPr>
          <a:xfrm>
            <a:off x="7909560" y="4389120"/>
            <a:ext cx="3246120" cy="1234440"/>
          </a:xfrm>
          <a:prstGeom prst="rightArrow">
            <a:avLst/>
          </a:prstGeom>
          <a:noFill/>
          <a:ln w="50800">
            <a:solidFill>
              <a:srgbClr val="3E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Opus Q3 Partner Positioning</dc:title>
  <dc:subject>Five-slide partner positioning deck</dc:subject>
  <dc:creator>Opus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